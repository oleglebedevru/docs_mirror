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  <p:embeddedFont>
      <p:font typeface="Alfa Slab One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AlfaSlabOne-regular.fntdata"/><Relationship Id="rId10" Type="http://schemas.openxmlformats.org/officeDocument/2006/relationships/font" Target="fonts/ProximaNova-boldItalic.fntdata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d94ea53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5d94ea5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234850" y="246500"/>
            <a:ext cx="3079500" cy="29580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710475" y="855125"/>
            <a:ext cx="2214900" cy="4089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Proxima Nova"/>
                <a:ea typeface="Proxima Nova"/>
                <a:cs typeface="Proxima Nova"/>
                <a:sym typeface="Proxima Nova"/>
              </a:rPr>
              <a:t>Плата подключения замков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710475" y="1493600"/>
            <a:ext cx="2214900" cy="1409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Контроллер Лео4</a:t>
            </a:r>
            <a:endParaRPr sz="1200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104925" y="3091500"/>
            <a:ext cx="931500" cy="462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Считыватель RFID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697375" y="553425"/>
            <a:ext cx="99300" cy="1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841725" y="553425"/>
            <a:ext cx="99300" cy="1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583400" y="553425"/>
            <a:ext cx="99300" cy="15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710475" y="302650"/>
            <a:ext cx="221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Электромеханические замки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3237500" y="2179575"/>
            <a:ext cx="631100" cy="565000"/>
          </a:xfrm>
          <a:prstGeom prst="flowChartMagneticDisk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Proxima Nova"/>
                <a:ea typeface="Proxima Nova"/>
                <a:cs typeface="Proxima Nova"/>
                <a:sym typeface="Proxima Nova"/>
              </a:rPr>
              <a:t>БД карт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5" name="Google Shape;65;p13"/>
          <p:cNvCxnSpPr>
            <a:stCxn id="59" idx="0"/>
          </p:cNvCxnSpPr>
          <p:nvPr/>
        </p:nvCxnSpPr>
        <p:spPr>
          <a:xfrm flipH="1" rot="10800000">
            <a:off x="1570675" y="2925000"/>
            <a:ext cx="181800" cy="1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1796675" y="1861075"/>
            <a:ext cx="1353600" cy="88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ПО контроллера: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авторизация, 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управление шиной,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mqtt (SSL) </a:t>
            </a: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клиент,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Proxima Nova"/>
                <a:ea typeface="Proxima Nova"/>
                <a:cs typeface="Proxima Nova"/>
                <a:sym typeface="Proxima Nova"/>
              </a:rPr>
              <a:t>RTOS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7" name="Google Shape;67;p13"/>
          <p:cNvCxnSpPr/>
          <p:nvPr/>
        </p:nvCxnSpPr>
        <p:spPr>
          <a:xfrm flipH="1" rot="10800000">
            <a:off x="2036425" y="1275275"/>
            <a:ext cx="96900" cy="2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8" name="Google Shape;68;p13"/>
          <p:cNvCxnSpPr/>
          <p:nvPr/>
        </p:nvCxnSpPr>
        <p:spPr>
          <a:xfrm rot="10800000">
            <a:off x="1754700" y="714475"/>
            <a:ext cx="15000" cy="1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endCxn id="61" idx="2"/>
          </p:cNvCxnSpPr>
          <p:nvPr/>
        </p:nvCxnSpPr>
        <p:spPr>
          <a:xfrm flipH="1" rot="10800000">
            <a:off x="1882375" y="706725"/>
            <a:ext cx="9000" cy="1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endCxn id="62" idx="2"/>
          </p:cNvCxnSpPr>
          <p:nvPr/>
        </p:nvCxnSpPr>
        <p:spPr>
          <a:xfrm rot="10800000">
            <a:off x="2633050" y="706725"/>
            <a:ext cx="2100" cy="14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2053175" y="635650"/>
            <a:ext cx="366900" cy="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2" name="Google Shape;72;p13"/>
          <p:cNvSpPr/>
          <p:nvPr/>
        </p:nvSpPr>
        <p:spPr>
          <a:xfrm>
            <a:off x="5019350" y="1923525"/>
            <a:ext cx="1408750" cy="565000"/>
          </a:xfrm>
          <a:prstGeom prst="flowChartPredefinedProcess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Proxima Nova"/>
                <a:ea typeface="Proxima Nova"/>
                <a:cs typeface="Proxima Nova"/>
                <a:sym typeface="Proxima Nova"/>
              </a:rPr>
              <a:t>Сервер интеграциии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3" name="Google Shape;73;p13"/>
          <p:cNvCxnSpPr>
            <a:stCxn id="72" idx="1"/>
            <a:endCxn id="74" idx="3"/>
          </p:cNvCxnSpPr>
          <p:nvPr/>
        </p:nvCxnSpPr>
        <p:spPr>
          <a:xfrm rot="10800000">
            <a:off x="4382150" y="1960325"/>
            <a:ext cx="637200" cy="2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" name="Google Shape;75;p13"/>
          <p:cNvSpPr/>
          <p:nvPr/>
        </p:nvSpPr>
        <p:spPr>
          <a:xfrm>
            <a:off x="7306725" y="1665425"/>
            <a:ext cx="952500" cy="10965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СКУД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6" name="Google Shape;76;p13"/>
          <p:cNvCxnSpPr>
            <a:stCxn id="75" idx="1"/>
            <a:endCxn id="72" idx="3"/>
          </p:cNvCxnSpPr>
          <p:nvPr/>
        </p:nvCxnSpPr>
        <p:spPr>
          <a:xfrm rot="10800000">
            <a:off x="6428025" y="2205875"/>
            <a:ext cx="8787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/>
          <p:nvPr/>
        </p:nvSpPr>
        <p:spPr>
          <a:xfrm>
            <a:off x="2960825" y="3337825"/>
            <a:ext cx="1353600" cy="639000"/>
          </a:xfrm>
          <a:prstGeom prst="wedgeRectCallout">
            <a:avLst>
              <a:gd fmla="val 7626" name="adj1"/>
              <a:gd fmla="val -150599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Шифрованная флеш-память для постоянного хранения списка карт и привязок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1210075" y="4052225"/>
            <a:ext cx="1815900" cy="883500"/>
          </a:xfrm>
          <a:prstGeom prst="wedgeRectCallout">
            <a:avLst>
              <a:gd fmla="val 30547" name="adj1"/>
              <a:gd fmla="val -197111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Защищенное ПО с доверенной загрузкой Secure boot.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Работает в режиме оффлайн.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Есть онлайн агент для инкрементального обновления БД по сигналу сервера.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4494250" y="3772950"/>
            <a:ext cx="1686900" cy="795600"/>
          </a:xfrm>
          <a:prstGeom prst="wedgeRectCallout">
            <a:avLst>
              <a:gd fmla="val -36532" name="adj1"/>
              <a:gd fmla="val -26311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Защищенный канал для обновления списка карт. Используется при добавлении новых карт и при начальной загрузке БД карт.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4603250" y="783500"/>
            <a:ext cx="1353600" cy="639000"/>
          </a:xfrm>
          <a:prstGeom prst="wedgeRectCallout">
            <a:avLst>
              <a:gd fmla="val -80325" name="adj1"/>
              <a:gd fmla="val -1702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latin typeface="Proxima Nova"/>
                <a:ea typeface="Proxima Nova"/>
                <a:cs typeface="Proxima Nova"/>
                <a:sym typeface="Proxima Nova"/>
              </a:rPr>
              <a:t>Модуль почтового ящика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756350" y="91725"/>
            <a:ext cx="4206900" cy="461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rPr>
              <a:t>Система почтовых ящиков</a:t>
            </a:r>
            <a:endParaRPr sz="1800">
              <a:solidFill>
                <a:srgbClr val="F3F3F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2" name="Google Shape;82;p13"/>
          <p:cNvCxnSpPr>
            <a:stCxn id="83" idx="6"/>
            <a:endCxn id="59" idx="1"/>
          </p:cNvCxnSpPr>
          <p:nvPr/>
        </p:nvCxnSpPr>
        <p:spPr>
          <a:xfrm>
            <a:off x="869725" y="3322800"/>
            <a:ext cx="23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3"/>
          <p:cNvSpPr txBox="1"/>
          <p:nvPr/>
        </p:nvSpPr>
        <p:spPr>
          <a:xfrm>
            <a:off x="279175" y="3076500"/>
            <a:ext cx="69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Брелок, карта, …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5" name="Google Shape;85;p13"/>
          <p:cNvCxnSpPr>
            <a:stCxn id="66" idx="3"/>
            <a:endCxn id="66" idx="3"/>
          </p:cNvCxnSpPr>
          <p:nvPr/>
        </p:nvCxnSpPr>
        <p:spPr>
          <a:xfrm>
            <a:off x="3150275" y="23028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3"/>
          <p:cNvCxnSpPr>
            <a:stCxn id="66" idx="3"/>
            <a:endCxn id="64" idx="2"/>
          </p:cNvCxnSpPr>
          <p:nvPr/>
        </p:nvCxnSpPr>
        <p:spPr>
          <a:xfrm>
            <a:off x="3150275" y="2302825"/>
            <a:ext cx="87300" cy="1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2082125" y="1215700"/>
            <a:ext cx="87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Шина RS-485</a:t>
            </a:r>
            <a:endParaRPr sz="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3792400" y="1806475"/>
            <a:ext cx="589800" cy="307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rPr>
              <a:t>Ethernet,</a:t>
            </a:r>
            <a:endParaRPr sz="800">
              <a:solidFill>
                <a:srgbClr val="F3F3F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rPr>
              <a:t>WiFi</a:t>
            </a:r>
            <a:endParaRPr sz="800">
              <a:solidFill>
                <a:srgbClr val="F3F3F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360975" y="3091500"/>
            <a:ext cx="2679600" cy="1844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Proxima Nova"/>
                <a:ea typeface="Proxima Nova"/>
                <a:cs typeface="Proxima Nova"/>
                <a:sym typeface="Proxima Nova"/>
              </a:rPr>
              <a:t>Контроллеры и сервер интеграции должны быть в одной локальной сети. Интернет не требуется.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Proxima Nova"/>
                <a:ea typeface="Proxima Nova"/>
                <a:cs typeface="Proxima Nova"/>
                <a:sym typeface="Proxima Nova"/>
              </a:rPr>
              <a:t>Для контроллеров не требуется постоянное подключение к локальной сети.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