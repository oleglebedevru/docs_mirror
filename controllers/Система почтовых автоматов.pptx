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C571D9-77D2-4F86-BE2D-96E7DCA6C2BD}">
  <a:tblStyle styleId="{54C571D9-77D2-4F86-BE2D-96E7DCA6C2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387e73d4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387e73d4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387e73d4c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387e73d4c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87e73d4c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387e73d4c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87e73d4c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387e73d4c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87e73d4c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387e73d4c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cfa4c062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cfa4c062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cfa4c0628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cfa4c0628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cfa4c0628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cfa4c0628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cfa4c0628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cfa4c0628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cfa4c0628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cfa4c0628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50525" y="709800"/>
            <a:ext cx="3851700" cy="3883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Почтовый автомат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223375" y="2023800"/>
            <a:ext cx="1822500" cy="12015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Облачный контроллер: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/>
              <a:t>Ethernet;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/>
              <a:t>WiFi;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/>
              <a:t>MQTT;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ru" sz="1200"/>
              <a:t>ПО управления.</a:t>
            </a:r>
            <a:endParaRPr sz="1200"/>
          </a:p>
        </p:txBody>
      </p:sp>
      <p:sp>
        <p:nvSpPr>
          <p:cNvPr id="56" name="Google Shape;56;p13"/>
          <p:cNvSpPr/>
          <p:nvPr/>
        </p:nvSpPr>
        <p:spPr>
          <a:xfrm>
            <a:off x="475975" y="1075150"/>
            <a:ext cx="1461300" cy="54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Плата № 1 на 16 замков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475975" y="3119700"/>
            <a:ext cx="1461300" cy="54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Плата №15 на 16 замков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678500" y="2306875"/>
            <a:ext cx="120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… от 1 до 15 плат</a:t>
            </a:r>
            <a:endParaRPr/>
          </a:p>
        </p:txBody>
      </p:sp>
      <p:cxnSp>
        <p:nvCxnSpPr>
          <p:cNvPr id="59" name="Google Shape;59;p13"/>
          <p:cNvCxnSpPr>
            <a:stCxn id="55" idx="1"/>
            <a:endCxn id="56" idx="3"/>
          </p:cNvCxnSpPr>
          <p:nvPr/>
        </p:nvCxnSpPr>
        <p:spPr>
          <a:xfrm rot="10800000">
            <a:off x="1937175" y="1346550"/>
            <a:ext cx="286200" cy="127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" name="Google Shape;60;p13"/>
          <p:cNvCxnSpPr/>
          <p:nvPr/>
        </p:nvCxnSpPr>
        <p:spPr>
          <a:xfrm flipH="1">
            <a:off x="1711875" y="2612100"/>
            <a:ext cx="511500" cy="50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" name="Google Shape;61;p13"/>
          <p:cNvSpPr/>
          <p:nvPr/>
        </p:nvSpPr>
        <p:spPr>
          <a:xfrm>
            <a:off x="4910375" y="766175"/>
            <a:ext cx="4057776" cy="1957284"/>
          </a:xfrm>
          <a:prstGeom prst="cloud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lt1"/>
                </a:solidFill>
              </a:rPr>
              <a:t>Cloud</a:t>
            </a:r>
            <a:endParaRPr b="1" sz="1600">
              <a:solidFill>
                <a:schemeClr val="lt1"/>
              </a:solidFill>
            </a:endParaRPr>
          </a:p>
        </p:txBody>
      </p:sp>
      <p:cxnSp>
        <p:nvCxnSpPr>
          <p:cNvPr id="62" name="Google Shape;62;p13"/>
          <p:cNvCxnSpPr>
            <a:stCxn id="55" idx="3"/>
            <a:endCxn id="61" idx="2"/>
          </p:cNvCxnSpPr>
          <p:nvPr/>
        </p:nvCxnSpPr>
        <p:spPr>
          <a:xfrm flipH="1" rot="10800000">
            <a:off x="4045875" y="1744950"/>
            <a:ext cx="877200" cy="87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3" name="Google Shape;63;p13"/>
          <p:cNvSpPr/>
          <p:nvPr/>
        </p:nvSpPr>
        <p:spPr>
          <a:xfrm>
            <a:off x="6169075" y="1227550"/>
            <a:ext cx="1822500" cy="72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Сервер управления контроллерами.</a:t>
            </a:r>
            <a:endParaRPr sz="1200"/>
          </a:p>
        </p:txBody>
      </p:sp>
      <p:sp>
        <p:nvSpPr>
          <p:cNvPr id="64" name="Google Shape;64;p13"/>
          <p:cNvSpPr/>
          <p:nvPr/>
        </p:nvSpPr>
        <p:spPr>
          <a:xfrm>
            <a:off x="4188400" y="2687900"/>
            <a:ext cx="2039100" cy="8559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300">
                <a:solidFill>
                  <a:schemeClr val="dk1"/>
                </a:solidFill>
              </a:rPr>
              <a:t>Опционально </a:t>
            </a:r>
            <a:r>
              <a:rPr lang="ru" sz="1300">
                <a:solidFill>
                  <a:schemeClr val="dk1"/>
                </a:solidFill>
              </a:rPr>
              <a:t>- </a:t>
            </a:r>
            <a:r>
              <a:rPr lang="ru" sz="1300">
                <a:solidFill>
                  <a:schemeClr val="dk1"/>
                </a:solidFill>
              </a:rPr>
              <a:t>Мобильное приложение абонента().</a:t>
            </a:r>
            <a:endParaRPr sz="1300"/>
          </a:p>
        </p:txBody>
      </p:sp>
      <p:sp>
        <p:nvSpPr>
          <p:cNvPr id="65" name="Google Shape;65;p13"/>
          <p:cNvSpPr/>
          <p:nvPr/>
        </p:nvSpPr>
        <p:spPr>
          <a:xfrm>
            <a:off x="7359050" y="3119700"/>
            <a:ext cx="1652100" cy="9357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 Личный кабинет администратора автоматов.</a:t>
            </a:r>
            <a:endParaRPr sz="1300"/>
          </a:p>
        </p:txBody>
      </p:sp>
      <p:cxnSp>
        <p:nvCxnSpPr>
          <p:cNvPr id="66" name="Google Shape;66;p13"/>
          <p:cNvCxnSpPr>
            <a:stCxn id="64" idx="0"/>
          </p:cNvCxnSpPr>
          <p:nvPr/>
        </p:nvCxnSpPr>
        <p:spPr>
          <a:xfrm flipH="1" rot="10800000">
            <a:off x="5207950" y="2544200"/>
            <a:ext cx="507000" cy="1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>
            <a:stCxn id="65" idx="0"/>
          </p:cNvCxnSpPr>
          <p:nvPr/>
        </p:nvCxnSpPr>
        <p:spPr>
          <a:xfrm rot="10800000">
            <a:off x="7704500" y="2473800"/>
            <a:ext cx="480600" cy="64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3"/>
          <p:cNvSpPr/>
          <p:nvPr/>
        </p:nvSpPr>
        <p:spPr>
          <a:xfrm>
            <a:off x="475975" y="1691013"/>
            <a:ext cx="1461300" cy="54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Плата № 2 на 16 замков</a:t>
            </a:r>
            <a:endParaRPr/>
          </a:p>
        </p:txBody>
      </p:sp>
      <p:cxnSp>
        <p:nvCxnSpPr>
          <p:cNvPr id="69" name="Google Shape;69;p13"/>
          <p:cNvCxnSpPr>
            <a:stCxn id="55" idx="1"/>
            <a:endCxn id="68" idx="3"/>
          </p:cNvCxnSpPr>
          <p:nvPr/>
        </p:nvCxnSpPr>
        <p:spPr>
          <a:xfrm rot="10800000">
            <a:off x="1937175" y="1962450"/>
            <a:ext cx="286200" cy="66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3"/>
          <p:cNvSpPr/>
          <p:nvPr/>
        </p:nvSpPr>
        <p:spPr>
          <a:xfrm>
            <a:off x="6740525" y="349750"/>
            <a:ext cx="1590900" cy="7254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АПИ управления сервером и контроллерами</a:t>
            </a:r>
            <a:r>
              <a:rPr lang="ru">
                <a:solidFill>
                  <a:schemeClr val="dk1"/>
                </a:solidFill>
              </a:rPr>
              <a:t>.</a:t>
            </a:r>
            <a:endParaRPr/>
          </a:p>
        </p:txBody>
      </p:sp>
      <p:cxnSp>
        <p:nvCxnSpPr>
          <p:cNvPr id="71" name="Google Shape;71;p13"/>
          <p:cNvCxnSpPr>
            <a:stCxn id="70" idx="2"/>
          </p:cNvCxnSpPr>
          <p:nvPr/>
        </p:nvCxnSpPr>
        <p:spPr>
          <a:xfrm flipH="1">
            <a:off x="7366775" y="1075150"/>
            <a:ext cx="169200" cy="1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Макет почтового автомата (2 платы на 16х2 = 32 замка)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         </a:t>
            </a:r>
            <a:endParaRPr/>
          </a:p>
        </p:txBody>
      </p:sp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92511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Компоненты электроники для почтового автомата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         </a:t>
            </a:r>
            <a:endParaRPr/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46450"/>
            <a:ext cx="8166850" cy="40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5401850" y="955100"/>
            <a:ext cx="3076800" cy="4029000"/>
          </a:xfrm>
          <a:prstGeom prst="rect">
            <a:avLst/>
          </a:prstGeom>
          <a:solidFill>
            <a:srgbClr val="042C77">
              <a:alpha val="65480"/>
            </a:srgbClr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E599"/>
                </a:solidFill>
              </a:rPr>
              <a:t>1 - Блок питания 12В (5А)</a:t>
            </a:r>
            <a:endParaRPr sz="1200">
              <a:solidFill>
                <a:srgbClr val="FFE5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E599"/>
                </a:solidFill>
              </a:rPr>
              <a:t>2 - Считыватель карт и клавиатура (Wiegand 26 или 34)</a:t>
            </a:r>
            <a:endParaRPr sz="1200">
              <a:solidFill>
                <a:srgbClr val="FFE5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E599"/>
                </a:solidFill>
              </a:rPr>
              <a:t>3 - Розетки для подключения замков с датчиками открытия</a:t>
            </a:r>
            <a:endParaRPr sz="1200">
              <a:solidFill>
                <a:srgbClr val="FFE5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E599"/>
                </a:solidFill>
              </a:rPr>
              <a:t>4 - Дисплей для отображения ввода пин-кода и др.</a:t>
            </a:r>
            <a:endParaRPr sz="1200">
              <a:solidFill>
                <a:srgbClr val="FFE5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E599"/>
                </a:solidFill>
              </a:rPr>
              <a:t>5 - Разъем для подключения считывателя карт Wiegand</a:t>
            </a:r>
            <a:endParaRPr sz="1200">
              <a:solidFill>
                <a:srgbClr val="FFE5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E599"/>
                </a:solidFill>
              </a:rPr>
              <a:t>6 - USB-разъем для подключения к компьютеру (в конфигурациях с управляющим компьютером)</a:t>
            </a:r>
            <a:endParaRPr sz="1200">
              <a:solidFill>
                <a:srgbClr val="FFE5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E599"/>
                </a:solidFill>
              </a:rPr>
              <a:t>7 - Розетки RS-485</a:t>
            </a:r>
            <a:endParaRPr sz="1200">
              <a:solidFill>
                <a:srgbClr val="FFE5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E599"/>
                </a:solidFill>
              </a:rPr>
              <a:t>8 - Облачный контроллер</a:t>
            </a:r>
            <a:endParaRPr sz="1200">
              <a:solidFill>
                <a:srgbClr val="FFE5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E599"/>
                </a:solidFill>
              </a:rPr>
              <a:t>9 - Преобразователь RS-485</a:t>
            </a:r>
            <a:endParaRPr sz="1200">
              <a:solidFill>
                <a:srgbClr val="FFE5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E599"/>
                </a:solidFill>
              </a:rPr>
              <a:t>10 - Замок (12В / 2А, 200-500 мс)</a:t>
            </a:r>
            <a:endParaRPr sz="1200">
              <a:solidFill>
                <a:srgbClr val="FFE5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E599"/>
                </a:solidFill>
              </a:rPr>
              <a:t>11 - Светодиоды контроля состояния ячеек и начального состояния</a:t>
            </a:r>
            <a:endParaRPr sz="1200">
              <a:solidFill>
                <a:srgbClr val="FFE5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E599"/>
                </a:solidFill>
              </a:rPr>
              <a:t>12 - Адресный переключатель</a:t>
            </a:r>
            <a:endParaRPr sz="1200">
              <a:solidFill>
                <a:srgbClr val="FFE59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Функции контроллера управления замками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87750"/>
            <a:ext cx="3999900" cy="26153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0000"/>
              <a:buChar char="-"/>
            </a:pPr>
            <a:r>
              <a:rPr lang="ru">
                <a:solidFill>
                  <a:srgbClr val="0B5394"/>
                </a:solidFill>
              </a:rPr>
              <a:t>Подключение до 16 электромагнитных замков (импульс открытия 12В / 2А / 200-500 мс)</a:t>
            </a:r>
            <a:endParaRPr>
              <a:solidFill>
                <a:srgbClr val="0B5394"/>
              </a:solidFill>
            </a:endParaRPr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0000"/>
              <a:buChar char="-"/>
            </a:pPr>
            <a:r>
              <a:rPr lang="ru">
                <a:solidFill>
                  <a:srgbClr val="0B5394"/>
                </a:solidFill>
              </a:rPr>
              <a:t>Подключение к компьютеру через USB или RS-485</a:t>
            </a:r>
            <a:endParaRPr>
              <a:solidFill>
                <a:srgbClr val="0B5394"/>
              </a:solidFill>
            </a:endParaRPr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0000"/>
              <a:buChar char="-"/>
            </a:pPr>
            <a:r>
              <a:rPr lang="ru">
                <a:solidFill>
                  <a:srgbClr val="0B5394"/>
                </a:solidFill>
              </a:rPr>
              <a:t>Подключение к облачному контроллеру через USB или RS-485</a:t>
            </a:r>
            <a:endParaRPr>
              <a:solidFill>
                <a:srgbClr val="0B5394"/>
              </a:solidFill>
            </a:endParaRPr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0000"/>
              <a:buChar char="-"/>
            </a:pPr>
            <a:r>
              <a:rPr lang="ru">
                <a:solidFill>
                  <a:srgbClr val="0B5394"/>
                </a:solidFill>
              </a:rPr>
              <a:t>Соединение в цепь до 15-ти контроллеров</a:t>
            </a:r>
            <a:endParaRPr>
              <a:solidFill>
                <a:srgbClr val="0B5394"/>
              </a:solidFill>
            </a:endParaRPr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0000"/>
              <a:buChar char="-"/>
            </a:pPr>
            <a:r>
              <a:rPr lang="ru">
                <a:solidFill>
                  <a:srgbClr val="0B5394"/>
                </a:solidFill>
              </a:rPr>
              <a:t>Переключатель адреса платы (адреса 1..15 + селектор активации USB)</a:t>
            </a:r>
            <a:endParaRPr>
              <a:solidFill>
                <a:srgbClr val="0B5394"/>
              </a:solidFill>
            </a:endParaRPr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0000"/>
              <a:buChar char="-"/>
            </a:pPr>
            <a:r>
              <a:rPr lang="ru">
                <a:solidFill>
                  <a:srgbClr val="0B5394"/>
                </a:solidFill>
              </a:rPr>
              <a:t>Интерфейс Wiegand для прямого подключения считывателей карт и других устройств ввода (бесконтактных считывателей, распознавателей отпечатков пальцев и т.п.)</a:t>
            </a:r>
            <a:endParaRPr>
              <a:solidFill>
                <a:srgbClr val="0B5394"/>
              </a:solidFill>
            </a:endParaRPr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0000"/>
              <a:buChar char="-"/>
            </a:pPr>
            <a:r>
              <a:rPr lang="ru">
                <a:solidFill>
                  <a:srgbClr val="0B5394"/>
                </a:solidFill>
              </a:rPr>
              <a:t>Энергонезависимая память для записи и хранения кодов доступа к ячейкам и номеров (ID) карт (стандартов EM-Marine, MIFARE и т.п.)</a:t>
            </a:r>
            <a:endParaRPr>
              <a:solidFill>
                <a:srgbClr val="0B5394"/>
              </a:solidFill>
            </a:endParaRPr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0000"/>
              <a:buChar char="-"/>
            </a:pPr>
            <a:r>
              <a:rPr lang="ru">
                <a:solidFill>
                  <a:srgbClr val="0B5394"/>
                </a:solidFill>
              </a:rPr>
              <a:t>MODBUS-совместимый протокол управления контроллером с функциями управления замками, контроля состояния датчиков замков, возможностью записи в память идентификаторов карт и кодов доступа</a:t>
            </a:r>
            <a:endParaRPr>
              <a:solidFill>
                <a:srgbClr val="0B5394"/>
              </a:solidFill>
            </a:endParaRPr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00000"/>
              <a:buChar char="-"/>
            </a:pPr>
            <a:r>
              <a:rPr lang="ru">
                <a:solidFill>
                  <a:srgbClr val="0B5394"/>
                </a:solidFill>
              </a:rPr>
              <a:t>Питание контроллера 12В</a:t>
            </a:r>
            <a:endParaRPr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Описание сервера управления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Характеристики сервера: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Ведение базы данных контроллеров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Безопасный канал связи с контроллерами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Внешнее АПИ управления контроллерами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Построено на инфраструктуре Yandex.Cloud</a:t>
            </a:r>
            <a:endParaRPr/>
          </a:p>
        </p:txBody>
      </p:sp>
      <p:sp>
        <p:nvSpPr>
          <p:cNvPr id="101" name="Google Shape;10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Возможности АПИ управления: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Удаленный опрос статуса датчиков замков (ячеек)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Удаленное открытие замков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Удаленная загрузка кодов доступа и номеров карт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Удаленный просмотр данных о загруженных кодах доступа и картах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Применение контроллера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В качестве обычного контроллера ячеек во всех имеющихся типовых конфигурациях постаматов, консьержей или электронных сейфов, выполненных на базе управляющего компьютера (Windows + контроллер)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Т</a:t>
            </a:r>
            <a:r>
              <a:rPr lang="ru"/>
              <a:t>иповые конфигурации на базе управляющего компьютера, использующие USB-считыватель карт можно заменить на недорогие Wiegand-считыватели (Windows + контроллер замков + встроенный в контроллер интерфейс Wiegand)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Простой почтовый ящик с доступом по картам и/или пин-кодам (компьютер не требуется; подключение к интернету нужно только в случае обновления карт или кодов доступа)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Онлайн-постамат с удаленным открытием ячеек (компьютер не требуется, бизнес-логика размещается на сервере, при вводе кода он отправляется на сервер, команда открытия ячейки направляется с сервера онлайн), требуется постоянное стабильное соединение с интернетом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Онлайн-постамат с хранением в контроллере временных кодов доступа (компьютер не требуется, бизнес-логика размещается на сервере, контроллер по команде сервера записывает в свою память новые коды доступа для ячеек, пользователь вводит код доступа .который проверяется внутри контроллера и при совпадении открывается ячейка; коды доступа могут быть одноразовыми или постоянными в соответствии с заданным сценарием работы) соединение с интернетом сеансовое - для загрузки новых кодов доступа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/>
              <a:t>Настройка шкафов</a:t>
            </a:r>
            <a:endParaRPr u="sng"/>
          </a:p>
        </p:txBody>
      </p:sp>
      <p:graphicFrame>
        <p:nvGraphicFramePr>
          <p:cNvPr id="113" name="Google Shape;113;p19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42425"/>
                <a:gridCol w="2214275"/>
              </a:tblGrid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Номер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Адрес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Проходная </a:t>
                      </a: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highlight>
                            <a:schemeClr val="lt1"/>
                          </a:highlight>
                        </a:rPr>
                        <a:t>2</a:t>
                      </a:r>
                      <a:endParaRPr sz="10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highlight>
                            <a:schemeClr val="lt1"/>
                          </a:highlight>
                        </a:rPr>
                        <a:t>Офис </a:t>
                      </a:r>
                      <a:r>
                        <a:rPr lang="ru" sz="1000">
                          <a:highlight>
                            <a:schemeClr val="lt1"/>
                          </a:highlight>
                        </a:rPr>
                        <a:t>2</a:t>
                      </a:r>
                      <a:endParaRPr sz="10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Парадная </a:t>
                      </a: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Холл 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14" name="Google Shape;114;p19"/>
          <p:cNvCxnSpPr/>
          <p:nvPr/>
        </p:nvCxnSpPr>
        <p:spPr>
          <a:xfrm>
            <a:off x="3350700" y="1111675"/>
            <a:ext cx="7800" cy="3961500"/>
          </a:xfrm>
          <a:prstGeom prst="straightConnector1">
            <a:avLst/>
          </a:prstGeom>
          <a:noFill/>
          <a:ln cap="flat" cmpd="sng" w="28575">
            <a:solidFill>
              <a:srgbClr val="CFE2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9"/>
          <p:cNvSpPr txBox="1"/>
          <p:nvPr/>
        </p:nvSpPr>
        <p:spPr>
          <a:xfrm>
            <a:off x="4086625" y="1816275"/>
            <a:ext cx="450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highlight>
                  <a:srgbClr val="D9EAD3"/>
                </a:highlight>
              </a:rPr>
              <a:t>Выберите шкаф</a:t>
            </a:r>
            <a:endParaRPr>
              <a:highlight>
                <a:srgbClr val="D9EAD3"/>
              </a:highlight>
            </a:endParaRPr>
          </a:p>
        </p:txBody>
      </p:sp>
      <p:cxnSp>
        <p:nvCxnSpPr>
          <p:cNvPr id="116" name="Google Shape;116;p19"/>
          <p:cNvCxnSpPr>
            <a:stCxn id="115" idx="1"/>
          </p:cNvCxnSpPr>
          <p:nvPr/>
        </p:nvCxnSpPr>
        <p:spPr>
          <a:xfrm flipH="1">
            <a:off x="3499525" y="2016375"/>
            <a:ext cx="587100" cy="1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/>
              <a:t>Настройка шкафов</a:t>
            </a:r>
            <a:endParaRPr u="sng"/>
          </a:p>
        </p:txBody>
      </p:sp>
      <p:graphicFrame>
        <p:nvGraphicFramePr>
          <p:cNvPr id="122" name="Google Shape;122;p20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42425"/>
                <a:gridCol w="2214275"/>
              </a:tblGrid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Номер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Адрес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Проходная 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highlight>
                            <a:srgbClr val="93C47D"/>
                          </a:highlight>
                        </a:rPr>
                        <a:t>2</a:t>
                      </a:r>
                      <a:endParaRPr sz="1000">
                        <a:highlight>
                          <a:srgbClr val="93C47D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highlight>
                            <a:srgbClr val="93C47D"/>
                          </a:highlight>
                        </a:rPr>
                        <a:t>Офис 2      &gt;&gt;&gt;&gt;&gt;&gt;&gt;&gt;&gt;&gt;&gt;&gt;&gt;&gt;&gt;&gt;&gt;</a:t>
                      </a:r>
                      <a:endParaRPr sz="1000">
                        <a:highlight>
                          <a:srgbClr val="93C47D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Парадная 3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Холл 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3" name="Google Shape;123;p20"/>
          <p:cNvGraphicFramePr/>
          <p:nvPr/>
        </p:nvGraphicFramePr>
        <p:xfrm>
          <a:off x="3422475" y="132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1052325"/>
                <a:gridCol w="429800"/>
                <a:gridCol w="1232400"/>
                <a:gridCol w="392625"/>
              </a:tblGrid>
              <a:tr h="18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Всего колонок:</a:t>
                      </a:r>
                      <a:endParaRPr sz="9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0</a:t>
                      </a:r>
                      <a:endParaRPr u="sng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Консоль:</a:t>
                      </a:r>
                      <a:endParaRPr sz="9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0</a:t>
                      </a:r>
                      <a:endParaRPr u="sng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124" name="Google Shape;124;p20"/>
          <p:cNvSpPr txBox="1"/>
          <p:nvPr/>
        </p:nvSpPr>
        <p:spPr>
          <a:xfrm>
            <a:off x="6683700" y="1348575"/>
            <a:ext cx="48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highlight>
                  <a:srgbClr val="4A86E8"/>
                </a:highlight>
              </a:rPr>
              <a:t>ОК</a:t>
            </a:r>
            <a:endParaRPr>
              <a:highlight>
                <a:srgbClr val="4A86E8"/>
              </a:highlight>
            </a:endParaRPr>
          </a:p>
        </p:txBody>
      </p:sp>
      <p:cxnSp>
        <p:nvCxnSpPr>
          <p:cNvPr id="125" name="Google Shape;125;p20"/>
          <p:cNvCxnSpPr/>
          <p:nvPr/>
        </p:nvCxnSpPr>
        <p:spPr>
          <a:xfrm>
            <a:off x="3350700" y="1111675"/>
            <a:ext cx="7800" cy="3961500"/>
          </a:xfrm>
          <a:prstGeom prst="straightConnector1">
            <a:avLst/>
          </a:prstGeom>
          <a:noFill/>
          <a:ln cap="flat" cmpd="sng" w="28575">
            <a:solidFill>
              <a:srgbClr val="CFE2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20"/>
          <p:cNvSpPr txBox="1"/>
          <p:nvPr/>
        </p:nvSpPr>
        <p:spPr>
          <a:xfrm>
            <a:off x="3440800" y="1017725"/>
            <a:ext cx="128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/>
              <a:t>Распределение</a:t>
            </a:r>
            <a:endParaRPr sz="1000" u="sng"/>
          </a:p>
        </p:txBody>
      </p:sp>
      <p:sp>
        <p:nvSpPr>
          <p:cNvPr id="127" name="Google Shape;127;p20"/>
          <p:cNvSpPr/>
          <p:nvPr/>
        </p:nvSpPr>
        <p:spPr>
          <a:xfrm>
            <a:off x="4462400" y="1268250"/>
            <a:ext cx="336600" cy="516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/>
              <a:t>Настройка шкафов</a:t>
            </a:r>
            <a:endParaRPr u="sng"/>
          </a:p>
        </p:txBody>
      </p:sp>
      <p:graphicFrame>
        <p:nvGraphicFramePr>
          <p:cNvPr id="133" name="Google Shape;133;p21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42425"/>
                <a:gridCol w="2214275"/>
              </a:tblGrid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Номер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Адрес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Проходная 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highlight>
                            <a:srgbClr val="93C47D"/>
                          </a:highlight>
                        </a:rPr>
                        <a:t>2</a:t>
                      </a:r>
                      <a:endParaRPr sz="1000">
                        <a:highlight>
                          <a:srgbClr val="93C47D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highlight>
                            <a:srgbClr val="93C47D"/>
                          </a:highlight>
                        </a:rPr>
                        <a:t>Офис 2      &gt;&gt;&gt;&gt;&gt;&gt;&gt;&gt;&gt;&gt;&gt;&gt;&gt;&gt;&gt;&gt;&gt;</a:t>
                      </a:r>
                      <a:endParaRPr sz="1000">
                        <a:highlight>
                          <a:srgbClr val="93C47D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Парадная 3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Холл 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34" name="Google Shape;134;p21"/>
          <p:cNvGraphicFramePr/>
          <p:nvPr/>
        </p:nvGraphicFramePr>
        <p:xfrm>
          <a:off x="3422475" y="132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1052325"/>
                <a:gridCol w="429800"/>
                <a:gridCol w="1232400"/>
                <a:gridCol w="392625"/>
              </a:tblGrid>
              <a:tr h="18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Всего колонок:</a:t>
                      </a:r>
                      <a:endParaRPr sz="9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Консоль:</a:t>
                      </a:r>
                      <a:endParaRPr sz="9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21"/>
          <p:cNvSpPr txBox="1"/>
          <p:nvPr/>
        </p:nvSpPr>
        <p:spPr>
          <a:xfrm>
            <a:off x="6683700" y="1348575"/>
            <a:ext cx="48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highlight>
                  <a:srgbClr val="4A86E8"/>
                </a:highlight>
              </a:rPr>
              <a:t>ОК</a:t>
            </a:r>
            <a:endParaRPr>
              <a:highlight>
                <a:srgbClr val="4A86E8"/>
              </a:highlight>
            </a:endParaRPr>
          </a:p>
        </p:txBody>
      </p:sp>
      <p:graphicFrame>
        <p:nvGraphicFramePr>
          <p:cNvPr id="136" name="Google Shape;136;p21"/>
          <p:cNvGraphicFramePr/>
          <p:nvPr/>
        </p:nvGraphicFramePr>
        <p:xfrm>
          <a:off x="3422425" y="207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452275"/>
                <a:gridCol w="452275"/>
                <a:gridCol w="452275"/>
                <a:gridCol w="452275"/>
                <a:gridCol w="452275"/>
                <a:gridCol w="452275"/>
                <a:gridCol w="452275"/>
                <a:gridCol w="452275"/>
                <a:gridCol w="452275"/>
                <a:gridCol w="452275"/>
              </a:tblGrid>
              <a:tr h="23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0</a:t>
                      </a:r>
                      <a:endParaRPr u="sng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0</a:t>
                      </a:r>
                      <a:endParaRPr u="sng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0</a:t>
                      </a:r>
                      <a:endParaRPr u="sng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0</a:t>
                      </a:r>
                      <a:endParaRPr u="sng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5: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0</a:t>
                      </a:r>
                      <a:endParaRPr u="sng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Google Shape;137;p21"/>
          <p:cNvGraphicFramePr/>
          <p:nvPr/>
        </p:nvGraphicFramePr>
        <p:xfrm>
          <a:off x="3422475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Колонка 1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Google Shape;138;p21"/>
          <p:cNvGraphicFramePr/>
          <p:nvPr/>
        </p:nvGraphicFramePr>
        <p:xfrm>
          <a:off x="4373400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Колонка 2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Google Shape;139;p21"/>
          <p:cNvGraphicFramePr/>
          <p:nvPr/>
        </p:nvGraphicFramePr>
        <p:xfrm>
          <a:off x="5324325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Консоль 3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" name="Google Shape;140;p21"/>
          <p:cNvGraphicFramePr/>
          <p:nvPr/>
        </p:nvGraphicFramePr>
        <p:xfrm>
          <a:off x="6189675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Колонка 4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" name="Google Shape;141;p21"/>
          <p:cNvGraphicFramePr/>
          <p:nvPr/>
        </p:nvGraphicFramePr>
        <p:xfrm>
          <a:off x="7109275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Колонка 5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21"/>
          <p:cNvSpPr txBox="1"/>
          <p:nvPr/>
        </p:nvSpPr>
        <p:spPr>
          <a:xfrm>
            <a:off x="8099200" y="2077600"/>
            <a:ext cx="48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highlight>
                  <a:srgbClr val="4A86E8"/>
                </a:highlight>
              </a:rPr>
              <a:t>ОК</a:t>
            </a:r>
            <a:endParaRPr>
              <a:highlight>
                <a:srgbClr val="4A86E8"/>
              </a:highlight>
            </a:endParaRPr>
          </a:p>
        </p:txBody>
      </p:sp>
      <p:cxnSp>
        <p:nvCxnSpPr>
          <p:cNvPr id="143" name="Google Shape;143;p21"/>
          <p:cNvCxnSpPr/>
          <p:nvPr/>
        </p:nvCxnSpPr>
        <p:spPr>
          <a:xfrm>
            <a:off x="3350700" y="1111675"/>
            <a:ext cx="7800" cy="3961500"/>
          </a:xfrm>
          <a:prstGeom prst="straightConnector1">
            <a:avLst/>
          </a:prstGeom>
          <a:noFill/>
          <a:ln cap="flat" cmpd="sng" w="28575">
            <a:solidFill>
              <a:srgbClr val="CFE2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1"/>
          <p:cNvSpPr txBox="1"/>
          <p:nvPr/>
        </p:nvSpPr>
        <p:spPr>
          <a:xfrm>
            <a:off x="3440800" y="1017725"/>
            <a:ext cx="128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/>
              <a:t>Распределение</a:t>
            </a:r>
            <a:endParaRPr sz="1000" u="sng"/>
          </a:p>
        </p:txBody>
      </p:sp>
      <p:sp>
        <p:nvSpPr>
          <p:cNvPr id="145" name="Google Shape;145;p21"/>
          <p:cNvSpPr txBox="1"/>
          <p:nvPr/>
        </p:nvSpPr>
        <p:spPr>
          <a:xfrm>
            <a:off x="3440800" y="1766688"/>
            <a:ext cx="94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/>
              <a:t>Колонки (5)</a:t>
            </a:r>
            <a:endParaRPr sz="1000" u="sng"/>
          </a:p>
        </p:txBody>
      </p:sp>
      <p:sp>
        <p:nvSpPr>
          <p:cNvPr id="146" name="Google Shape;146;p21"/>
          <p:cNvSpPr txBox="1"/>
          <p:nvPr/>
        </p:nvSpPr>
        <p:spPr>
          <a:xfrm>
            <a:off x="3440800" y="2571925"/>
            <a:ext cx="314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/>
              <a:t>Ячейки (15 - абонентские, 1 - консоль)</a:t>
            </a:r>
            <a:endParaRPr sz="1000" u="sng"/>
          </a:p>
        </p:txBody>
      </p:sp>
      <p:sp>
        <p:nvSpPr>
          <p:cNvPr id="147" name="Google Shape;147;p21"/>
          <p:cNvSpPr/>
          <p:nvPr/>
        </p:nvSpPr>
        <p:spPr>
          <a:xfrm>
            <a:off x="3914375" y="2034275"/>
            <a:ext cx="352200" cy="572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/>
              <a:t>Настройка шкафов</a:t>
            </a:r>
            <a:endParaRPr u="sng"/>
          </a:p>
        </p:txBody>
      </p:sp>
      <p:graphicFrame>
        <p:nvGraphicFramePr>
          <p:cNvPr id="153" name="Google Shape;153;p22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42425"/>
                <a:gridCol w="2214275"/>
              </a:tblGrid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Номер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Адрес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Проходная 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highlight>
                            <a:srgbClr val="93C47D"/>
                          </a:highlight>
                        </a:rPr>
                        <a:t>2</a:t>
                      </a:r>
                      <a:endParaRPr sz="1000">
                        <a:highlight>
                          <a:srgbClr val="93C47D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highlight>
                            <a:srgbClr val="93C47D"/>
                          </a:highlight>
                        </a:rPr>
                        <a:t>Офис 2      &gt;&gt;&gt;&gt;&gt;&gt;&gt;&gt;&gt;&gt;&gt;&gt;&gt;&gt;&gt;&gt;&gt;</a:t>
                      </a:r>
                      <a:endParaRPr sz="1000">
                        <a:highlight>
                          <a:srgbClr val="93C47D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Парадная 3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Холл 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4" name="Google Shape;154;p22"/>
          <p:cNvGraphicFramePr/>
          <p:nvPr/>
        </p:nvGraphicFramePr>
        <p:xfrm>
          <a:off x="3422475" y="132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1052325"/>
                <a:gridCol w="429800"/>
                <a:gridCol w="1232400"/>
                <a:gridCol w="392625"/>
              </a:tblGrid>
              <a:tr h="18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Всего колонок:</a:t>
                      </a:r>
                      <a:endParaRPr sz="9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Консоль:</a:t>
                      </a:r>
                      <a:endParaRPr sz="9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22"/>
          <p:cNvSpPr txBox="1"/>
          <p:nvPr/>
        </p:nvSpPr>
        <p:spPr>
          <a:xfrm>
            <a:off x="6683700" y="1348575"/>
            <a:ext cx="48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highlight>
                  <a:srgbClr val="4A86E8"/>
                </a:highlight>
              </a:rPr>
              <a:t>ОК</a:t>
            </a:r>
            <a:endParaRPr>
              <a:highlight>
                <a:srgbClr val="4A86E8"/>
              </a:highlight>
            </a:endParaRPr>
          </a:p>
        </p:txBody>
      </p:sp>
      <p:graphicFrame>
        <p:nvGraphicFramePr>
          <p:cNvPr id="156" name="Google Shape;156;p22"/>
          <p:cNvGraphicFramePr/>
          <p:nvPr/>
        </p:nvGraphicFramePr>
        <p:xfrm>
          <a:off x="3422425" y="207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452275"/>
                <a:gridCol w="452275"/>
                <a:gridCol w="452275"/>
                <a:gridCol w="452275"/>
                <a:gridCol w="452275"/>
                <a:gridCol w="452275"/>
                <a:gridCol w="452275"/>
                <a:gridCol w="452275"/>
                <a:gridCol w="452275"/>
                <a:gridCol w="452275"/>
              </a:tblGrid>
              <a:tr h="23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5: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57" name="Google Shape;157;p22"/>
          <p:cNvSpPr txBox="1"/>
          <p:nvPr/>
        </p:nvSpPr>
        <p:spPr>
          <a:xfrm>
            <a:off x="8028875" y="4404438"/>
            <a:ext cx="94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highlight>
                  <a:srgbClr val="4A86E8"/>
                </a:highlight>
              </a:rPr>
              <a:t>Записать</a:t>
            </a:r>
            <a:endParaRPr>
              <a:highlight>
                <a:srgbClr val="4A86E8"/>
              </a:highlight>
            </a:endParaRPr>
          </a:p>
        </p:txBody>
      </p:sp>
      <p:graphicFrame>
        <p:nvGraphicFramePr>
          <p:cNvPr id="158" name="Google Shape;158;p22"/>
          <p:cNvGraphicFramePr/>
          <p:nvPr/>
        </p:nvGraphicFramePr>
        <p:xfrm>
          <a:off x="3422475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Колонка 1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Номер (имя): 1</a:t>
                      </a:r>
                      <a:endParaRPr sz="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Подключен: 0101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2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0102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3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0103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4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0104</a:t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9" name="Google Shape;159;p22"/>
          <p:cNvGraphicFramePr/>
          <p:nvPr/>
        </p:nvGraphicFramePr>
        <p:xfrm>
          <a:off x="4373400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Колонка 2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Номер (имя): 5</a:t>
                      </a:r>
                      <a:endParaRPr sz="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Подключен: 0105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6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0106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7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0109</a:t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0" name="Google Shape;160;p22"/>
          <p:cNvGraphicFramePr/>
          <p:nvPr/>
        </p:nvGraphicFramePr>
        <p:xfrm>
          <a:off x="5324325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Консоль 3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Номер (имя): С</a:t>
                      </a:r>
                      <a:endParaRPr sz="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Подключен: 0110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 vMerge="1"/>
              </a:tr>
            </a:tbl>
          </a:graphicData>
        </a:graphic>
      </p:graphicFrame>
      <p:graphicFrame>
        <p:nvGraphicFramePr>
          <p:cNvPr id="161" name="Google Shape;161;p22"/>
          <p:cNvGraphicFramePr/>
          <p:nvPr/>
        </p:nvGraphicFramePr>
        <p:xfrm>
          <a:off x="6189675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Колонка 4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Номер (имя): 8</a:t>
                      </a:r>
                      <a:endParaRPr sz="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Подключен: 0111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9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0112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10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0201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11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0202</a:t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2" name="Google Shape;162;p22"/>
          <p:cNvGraphicFramePr/>
          <p:nvPr/>
        </p:nvGraphicFramePr>
        <p:xfrm>
          <a:off x="7109275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Колонка 5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Номер (имя): 12</a:t>
                      </a:r>
                      <a:endParaRPr sz="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Подключен: 0301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13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0302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14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rgbClr val="FF0000"/>
                          </a:solidFill>
                        </a:rPr>
                        <a:t>Подключен</a:t>
                      </a:r>
                      <a:r>
                        <a:rPr lang="ru" sz="600">
                          <a:solidFill>
                            <a:schemeClr val="dk1"/>
                          </a:solidFill>
                        </a:rPr>
                        <a:t>: ????</a:t>
                      </a:r>
                      <a:endParaRPr sz="600"/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15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0404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22"/>
          <p:cNvSpPr txBox="1"/>
          <p:nvPr/>
        </p:nvSpPr>
        <p:spPr>
          <a:xfrm>
            <a:off x="8099200" y="2077600"/>
            <a:ext cx="48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highlight>
                  <a:srgbClr val="4A86E8"/>
                </a:highlight>
              </a:rPr>
              <a:t>ОК</a:t>
            </a:r>
            <a:endParaRPr>
              <a:highlight>
                <a:srgbClr val="4A86E8"/>
              </a:highlight>
            </a:endParaRPr>
          </a:p>
        </p:txBody>
      </p:sp>
      <p:cxnSp>
        <p:nvCxnSpPr>
          <p:cNvPr id="164" name="Google Shape;164;p22"/>
          <p:cNvCxnSpPr/>
          <p:nvPr/>
        </p:nvCxnSpPr>
        <p:spPr>
          <a:xfrm>
            <a:off x="3350700" y="1111675"/>
            <a:ext cx="7800" cy="3961500"/>
          </a:xfrm>
          <a:prstGeom prst="straightConnector1">
            <a:avLst/>
          </a:prstGeom>
          <a:noFill/>
          <a:ln cap="flat" cmpd="sng" w="28575">
            <a:solidFill>
              <a:srgbClr val="CFE2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2"/>
          <p:cNvSpPr txBox="1"/>
          <p:nvPr/>
        </p:nvSpPr>
        <p:spPr>
          <a:xfrm>
            <a:off x="3440800" y="1017725"/>
            <a:ext cx="128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/>
              <a:t>Распределение</a:t>
            </a:r>
            <a:endParaRPr sz="1000" u="sng"/>
          </a:p>
        </p:txBody>
      </p:sp>
      <p:sp>
        <p:nvSpPr>
          <p:cNvPr id="166" name="Google Shape;166;p22"/>
          <p:cNvSpPr txBox="1"/>
          <p:nvPr/>
        </p:nvSpPr>
        <p:spPr>
          <a:xfrm>
            <a:off x="3440800" y="1766688"/>
            <a:ext cx="94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/>
              <a:t>Колонки (5)</a:t>
            </a:r>
            <a:endParaRPr sz="1000" u="sng"/>
          </a:p>
        </p:txBody>
      </p:sp>
      <p:sp>
        <p:nvSpPr>
          <p:cNvPr id="167" name="Google Shape;167;p22"/>
          <p:cNvSpPr txBox="1"/>
          <p:nvPr/>
        </p:nvSpPr>
        <p:spPr>
          <a:xfrm>
            <a:off x="3440800" y="2571925"/>
            <a:ext cx="314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/>
              <a:t>Ячейки (15 - абонентские, 1 - консоль)</a:t>
            </a:r>
            <a:endParaRPr sz="1000" u="sn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/>
              <a:t>Настройка шкафов</a:t>
            </a:r>
            <a:endParaRPr u="sng"/>
          </a:p>
        </p:txBody>
      </p:sp>
      <p:graphicFrame>
        <p:nvGraphicFramePr>
          <p:cNvPr id="173" name="Google Shape;173;p23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42425"/>
                <a:gridCol w="2214275"/>
              </a:tblGrid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Номер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Адрес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Проходная 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highlight>
                            <a:srgbClr val="93C47D"/>
                          </a:highlight>
                        </a:rPr>
                        <a:t>2</a:t>
                      </a:r>
                      <a:endParaRPr sz="1000">
                        <a:highlight>
                          <a:srgbClr val="93C47D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highlight>
                            <a:srgbClr val="93C47D"/>
                          </a:highlight>
                        </a:rPr>
                        <a:t>Офис 2      &gt;&gt;&gt;&gt;&gt;&gt;&gt;&gt;&gt;&gt;&gt;&gt;&gt;&gt;&gt;&gt;&gt;</a:t>
                      </a:r>
                      <a:endParaRPr sz="1000">
                        <a:highlight>
                          <a:srgbClr val="93C47D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Парадная 3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Холл 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4" name="Google Shape;174;p23"/>
          <p:cNvGraphicFramePr/>
          <p:nvPr/>
        </p:nvGraphicFramePr>
        <p:xfrm>
          <a:off x="3422475" y="132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1052325"/>
                <a:gridCol w="429800"/>
                <a:gridCol w="1232400"/>
                <a:gridCol w="392625"/>
              </a:tblGrid>
              <a:tr h="18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Всего колонок:</a:t>
                      </a:r>
                      <a:endParaRPr sz="9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Консоль:</a:t>
                      </a:r>
                      <a:endParaRPr sz="9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23"/>
          <p:cNvSpPr txBox="1"/>
          <p:nvPr/>
        </p:nvSpPr>
        <p:spPr>
          <a:xfrm>
            <a:off x="6683700" y="1348575"/>
            <a:ext cx="48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highlight>
                  <a:srgbClr val="4A86E8"/>
                </a:highlight>
              </a:rPr>
              <a:t>ОК</a:t>
            </a:r>
            <a:endParaRPr>
              <a:highlight>
                <a:srgbClr val="4A86E8"/>
              </a:highlight>
            </a:endParaRPr>
          </a:p>
        </p:txBody>
      </p:sp>
      <p:graphicFrame>
        <p:nvGraphicFramePr>
          <p:cNvPr id="176" name="Google Shape;176;p23"/>
          <p:cNvGraphicFramePr/>
          <p:nvPr/>
        </p:nvGraphicFramePr>
        <p:xfrm>
          <a:off x="3422425" y="207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452275"/>
                <a:gridCol w="452275"/>
                <a:gridCol w="452275"/>
                <a:gridCol w="452275"/>
                <a:gridCol w="452275"/>
                <a:gridCol w="452275"/>
                <a:gridCol w="452275"/>
                <a:gridCol w="452275"/>
                <a:gridCol w="452275"/>
                <a:gridCol w="452275"/>
              </a:tblGrid>
              <a:tr h="23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4</a:t>
                      </a:r>
                      <a:endParaRPr u="sng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3</a:t>
                      </a:r>
                      <a:endParaRPr u="sng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0</a:t>
                      </a:r>
                      <a:endParaRPr u="sng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4</a:t>
                      </a:r>
                      <a:endParaRPr u="sng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5: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u="sng"/>
                        <a:t>4</a:t>
                      </a:r>
                      <a:endParaRPr u="sng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23"/>
          <p:cNvSpPr txBox="1"/>
          <p:nvPr/>
        </p:nvSpPr>
        <p:spPr>
          <a:xfrm>
            <a:off x="8028875" y="4404438"/>
            <a:ext cx="94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highlight>
                  <a:srgbClr val="4A86E8"/>
                </a:highlight>
              </a:rPr>
              <a:t>Записать</a:t>
            </a:r>
            <a:endParaRPr>
              <a:highlight>
                <a:srgbClr val="4A86E8"/>
              </a:highlight>
            </a:endParaRPr>
          </a:p>
        </p:txBody>
      </p:sp>
      <p:graphicFrame>
        <p:nvGraphicFramePr>
          <p:cNvPr id="178" name="Google Shape;178;p23"/>
          <p:cNvGraphicFramePr/>
          <p:nvPr/>
        </p:nvGraphicFramePr>
        <p:xfrm>
          <a:off x="3422475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Колонка 1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Номер (имя): </a:t>
                      </a:r>
                      <a:r>
                        <a:rPr lang="ru" sz="600">
                          <a:solidFill>
                            <a:srgbClr val="FF0000"/>
                          </a:solidFill>
                        </a:rPr>
                        <a:t>1</a:t>
                      </a:r>
                      <a:endParaRPr sz="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Подключен: 0101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2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0102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3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0103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4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0104</a:t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9" name="Google Shape;179;p23"/>
          <p:cNvGraphicFramePr/>
          <p:nvPr/>
        </p:nvGraphicFramePr>
        <p:xfrm>
          <a:off x="4373400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Колонка 2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Номер (имя): 5</a:t>
                      </a:r>
                      <a:endParaRPr sz="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Подключен: 0105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6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0106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7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0109</a:t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0" name="Google Shape;180;p23"/>
          <p:cNvGraphicFramePr/>
          <p:nvPr/>
        </p:nvGraphicFramePr>
        <p:xfrm>
          <a:off x="5324325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Консоль 3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Номер (имя): С</a:t>
                      </a:r>
                      <a:endParaRPr sz="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Подключен: 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 vMerge="1"/>
              </a:tr>
            </a:tbl>
          </a:graphicData>
        </a:graphic>
      </p:graphicFrame>
      <p:graphicFrame>
        <p:nvGraphicFramePr>
          <p:cNvPr id="181" name="Google Shape;181;p23"/>
          <p:cNvGraphicFramePr/>
          <p:nvPr/>
        </p:nvGraphicFramePr>
        <p:xfrm>
          <a:off x="6189675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Колонка 4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Номер (имя): 8</a:t>
                      </a:r>
                      <a:endParaRPr sz="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Подключен: 0111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9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0112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10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0201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11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0202</a:t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2" name="Google Shape;182;p23"/>
          <p:cNvGraphicFramePr/>
          <p:nvPr/>
        </p:nvGraphicFramePr>
        <p:xfrm>
          <a:off x="7109275" y="285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76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/>
                        <a:t>Колонка 5</a:t>
                      </a:r>
                      <a:endParaRPr sz="8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Номер (имя): 12</a:t>
                      </a:r>
                      <a:endParaRPr sz="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/>
                        <a:t>Подключен: 0301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13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0302</a:t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14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rgbClr val="FF0000"/>
                          </a:solidFill>
                        </a:rPr>
                        <a:t>Подключен</a:t>
                      </a:r>
                      <a:r>
                        <a:rPr lang="ru" sz="600">
                          <a:solidFill>
                            <a:schemeClr val="dk1"/>
                          </a:solidFill>
                        </a:rPr>
                        <a:t>: ????</a:t>
                      </a:r>
                      <a:endParaRPr sz="600"/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Номер (имя): 15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600">
                          <a:solidFill>
                            <a:schemeClr val="dk1"/>
                          </a:solidFill>
                        </a:rPr>
                        <a:t>Подключен: 0404</a:t>
                      </a:r>
                      <a:endParaRPr sz="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3" name="Google Shape;183;p23"/>
          <p:cNvSpPr txBox="1"/>
          <p:nvPr/>
        </p:nvSpPr>
        <p:spPr>
          <a:xfrm>
            <a:off x="8099200" y="2077600"/>
            <a:ext cx="48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highlight>
                  <a:srgbClr val="4A86E8"/>
                </a:highlight>
              </a:rPr>
              <a:t>ОК</a:t>
            </a:r>
            <a:endParaRPr>
              <a:highlight>
                <a:srgbClr val="4A86E8"/>
              </a:highlight>
            </a:endParaRPr>
          </a:p>
        </p:txBody>
      </p:sp>
      <p:cxnSp>
        <p:nvCxnSpPr>
          <p:cNvPr id="184" name="Google Shape;184;p23"/>
          <p:cNvCxnSpPr/>
          <p:nvPr/>
        </p:nvCxnSpPr>
        <p:spPr>
          <a:xfrm>
            <a:off x="3350700" y="1111675"/>
            <a:ext cx="7800" cy="3961500"/>
          </a:xfrm>
          <a:prstGeom prst="straightConnector1">
            <a:avLst/>
          </a:prstGeom>
          <a:noFill/>
          <a:ln cap="flat" cmpd="sng" w="28575">
            <a:solidFill>
              <a:srgbClr val="CFE2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23"/>
          <p:cNvSpPr txBox="1"/>
          <p:nvPr/>
        </p:nvSpPr>
        <p:spPr>
          <a:xfrm>
            <a:off x="3440800" y="1017725"/>
            <a:ext cx="128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/>
              <a:t>Распределение</a:t>
            </a:r>
            <a:endParaRPr sz="1000" u="sng"/>
          </a:p>
        </p:txBody>
      </p:sp>
      <p:sp>
        <p:nvSpPr>
          <p:cNvPr id="186" name="Google Shape;186;p23"/>
          <p:cNvSpPr txBox="1"/>
          <p:nvPr/>
        </p:nvSpPr>
        <p:spPr>
          <a:xfrm>
            <a:off x="3440800" y="1766688"/>
            <a:ext cx="94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/>
              <a:t>Колонки (5)</a:t>
            </a:r>
            <a:endParaRPr sz="1000" u="sng"/>
          </a:p>
        </p:txBody>
      </p:sp>
      <p:sp>
        <p:nvSpPr>
          <p:cNvPr id="187" name="Google Shape;187;p23"/>
          <p:cNvSpPr txBox="1"/>
          <p:nvPr/>
        </p:nvSpPr>
        <p:spPr>
          <a:xfrm>
            <a:off x="3440800" y="2571925"/>
            <a:ext cx="314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/>
              <a:t>Ячейки (15 - абонентские, 1 - консоль)</a:t>
            </a:r>
            <a:endParaRPr sz="1000" u="sng"/>
          </a:p>
        </p:txBody>
      </p:sp>
      <p:cxnSp>
        <p:nvCxnSpPr>
          <p:cNvPr id="188" name="Google Shape;188;p23"/>
          <p:cNvCxnSpPr/>
          <p:nvPr/>
        </p:nvCxnSpPr>
        <p:spPr>
          <a:xfrm>
            <a:off x="86125" y="70450"/>
            <a:ext cx="1158600" cy="1800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9" name="Google Shape;189;p23"/>
          <p:cNvCxnSpPr/>
          <p:nvPr/>
        </p:nvCxnSpPr>
        <p:spPr>
          <a:xfrm flipH="1" rot="10800000">
            <a:off x="1769300" y="1659700"/>
            <a:ext cx="2834100" cy="32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0" name="Google Shape;190;p23"/>
          <p:cNvCxnSpPr/>
          <p:nvPr/>
        </p:nvCxnSpPr>
        <p:spPr>
          <a:xfrm flipH="1" rot="10800000">
            <a:off x="4673775" y="1620500"/>
            <a:ext cx="1557900" cy="14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3"/>
          <p:cNvCxnSpPr>
            <a:stCxn id="175" idx="2"/>
          </p:cNvCxnSpPr>
          <p:nvPr/>
        </p:nvCxnSpPr>
        <p:spPr>
          <a:xfrm flipH="1">
            <a:off x="4165050" y="1748775"/>
            <a:ext cx="2762400" cy="490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3"/>
          <p:cNvCxnSpPr>
            <a:endCxn id="183" idx="1"/>
          </p:cNvCxnSpPr>
          <p:nvPr/>
        </p:nvCxnSpPr>
        <p:spPr>
          <a:xfrm flipH="1" rot="10800000">
            <a:off x="4266700" y="2277700"/>
            <a:ext cx="3832500" cy="70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3"/>
          <p:cNvCxnSpPr>
            <a:stCxn id="183" idx="2"/>
          </p:cNvCxnSpPr>
          <p:nvPr/>
        </p:nvCxnSpPr>
        <p:spPr>
          <a:xfrm flipH="1">
            <a:off x="4063150" y="2477800"/>
            <a:ext cx="4279800" cy="888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23"/>
          <p:cNvSpPr/>
          <p:nvPr/>
        </p:nvSpPr>
        <p:spPr>
          <a:xfrm>
            <a:off x="3515125" y="3444650"/>
            <a:ext cx="438300" cy="171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" name="Google Shape;195;p23"/>
          <p:cNvCxnSpPr>
            <a:endCxn id="177" idx="0"/>
          </p:cNvCxnSpPr>
          <p:nvPr/>
        </p:nvCxnSpPr>
        <p:spPr>
          <a:xfrm>
            <a:off x="8016575" y="3609138"/>
            <a:ext cx="486900" cy="795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96" name="Google Shape;196;p23"/>
          <p:cNvGraphicFramePr/>
          <p:nvPr/>
        </p:nvGraphicFramePr>
        <p:xfrm>
          <a:off x="7171200" y="132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{54C571D9-77D2-4F86-BE2D-96E7DCA6C2BD}</a:tableStyleId>
              </a:tblPr>
              <a:tblGrid>
                <a:gridCol w="1183150"/>
                <a:gridCol w="382850"/>
              </a:tblGrid>
              <a:tr h="33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Редактировать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/>
                        <a:t>V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