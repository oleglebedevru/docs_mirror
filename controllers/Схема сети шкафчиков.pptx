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2062D0-4DE7-4F3C-A33A-A57201010991}">
  <a:tblStyle styleId="{772062D0-4DE7-4F3C-A33A-A572010109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d9aa61b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d9aa61b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39225" y="2414525"/>
            <a:ext cx="3888000" cy="16614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Карты,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QR-коды,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пинкоды,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биометрия и т.п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+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сенсорные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экраны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33900" y="589425"/>
            <a:ext cx="3888000" cy="1716000"/>
          </a:xfrm>
          <a:prstGeom prst="rect">
            <a:avLst/>
          </a:prstGeom>
          <a:gradFill>
            <a:gsLst>
              <a:gs pos="0">
                <a:srgbClr val="F2F2F2"/>
              </a:gs>
              <a:gs pos="100000">
                <a:srgbClr val="A6A6A6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64025"/>
            <a:ext cx="85206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2672"/>
              <a:buNone/>
            </a:pPr>
            <a:r>
              <a:rPr lang="ru" sz="2320"/>
              <a:t>Архитектура управления сетью шкафчиков</a:t>
            </a:r>
            <a:endParaRPr sz="2320"/>
          </a:p>
        </p:txBody>
      </p:sp>
      <p:graphicFrame>
        <p:nvGraphicFramePr>
          <p:cNvPr id="57" name="Google Shape;57;p13"/>
          <p:cNvGraphicFramePr/>
          <p:nvPr/>
        </p:nvGraphicFramePr>
        <p:xfrm>
          <a:off x="235500" y="71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{772062D0-4DE7-4F3C-A33A-A57201010991}</a:tableStyleId>
              </a:tblPr>
              <a:tblGrid>
                <a:gridCol w="1326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Ячейка 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Ячейка 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Ячейка YYYY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8" name="Google Shape;58;p13"/>
          <p:cNvGraphicFramePr/>
          <p:nvPr/>
        </p:nvGraphicFramePr>
        <p:xfrm>
          <a:off x="1623175" y="91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{772062D0-4DE7-4F3C-A33A-A57201010991}</a:tableStyleId>
              </a:tblPr>
              <a:tblGrid>
                <a:gridCol w="2261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Iot-</a:t>
                      </a:r>
                      <a:r>
                        <a:rPr lang="ru" sz="1200"/>
                        <a:t>Контроллер группы 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9" name="Google Shape;59;p13"/>
          <p:cNvGraphicFramePr/>
          <p:nvPr/>
        </p:nvGraphicFramePr>
        <p:xfrm>
          <a:off x="235500" y="25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{772062D0-4DE7-4F3C-A33A-A57201010991}</a:tableStyleId>
              </a:tblPr>
              <a:tblGrid>
                <a:gridCol w="2261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Панель доступа 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Панель доступа 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Панель доступа ZZ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0" name="Google Shape;60;p13"/>
          <p:cNvGraphicFramePr/>
          <p:nvPr/>
        </p:nvGraphicFramePr>
        <p:xfrm>
          <a:off x="1623175" y="1758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{772062D0-4DE7-4F3C-A33A-A57201010991}</a:tableStyleId>
              </a:tblPr>
              <a:tblGrid>
                <a:gridCol w="2261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</a:rPr>
                        <a:t>Iot-</a:t>
                      </a:r>
                      <a:r>
                        <a:rPr lang="ru" sz="1200"/>
                        <a:t>Контроллер группы XXX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1" name="Google Shape;61;p13"/>
          <p:cNvSpPr/>
          <p:nvPr/>
        </p:nvSpPr>
        <p:spPr>
          <a:xfrm>
            <a:off x="4146800" y="1541475"/>
            <a:ext cx="1940868" cy="1661364"/>
          </a:xfrm>
          <a:prstGeom prst="cloud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Сеть (локальная, выделенная и/или интернет)</a:t>
            </a:r>
            <a:endParaRPr sz="1200"/>
          </a:p>
        </p:txBody>
      </p:sp>
      <p:sp>
        <p:nvSpPr>
          <p:cNvPr id="62" name="Google Shape;62;p13"/>
          <p:cNvSpPr/>
          <p:nvPr/>
        </p:nvSpPr>
        <p:spPr>
          <a:xfrm>
            <a:off x="4211838" y="669700"/>
            <a:ext cx="1810800" cy="659700"/>
          </a:xfrm>
          <a:prstGeom prst="wedgeRectCallout">
            <a:avLst>
              <a:gd fmla="val -38078" name="adj1"/>
              <a:gd fmla="val 74528" name="adj2"/>
            </a:avLst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Защищенный прикладной протокол поверх Mutual TLS </a:t>
            </a:r>
            <a:endParaRPr sz="1200"/>
          </a:p>
        </p:txBody>
      </p:sp>
      <p:sp>
        <p:nvSpPr>
          <p:cNvPr id="63" name="Google Shape;63;p13"/>
          <p:cNvSpPr/>
          <p:nvPr/>
        </p:nvSpPr>
        <p:spPr>
          <a:xfrm>
            <a:off x="6212575" y="1062550"/>
            <a:ext cx="2793900" cy="2900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38761D"/>
                </a:solidFill>
              </a:rPr>
              <a:t>Сервер (Docker-контейнеры)</a:t>
            </a:r>
            <a:endParaRPr b="1">
              <a:solidFill>
                <a:srgbClr val="38761D"/>
              </a:solidFill>
            </a:endParaRPr>
          </a:p>
        </p:txBody>
      </p:sp>
      <p:graphicFrame>
        <p:nvGraphicFramePr>
          <p:cNvPr id="64" name="Google Shape;64;p13"/>
          <p:cNvGraphicFramePr/>
          <p:nvPr/>
        </p:nvGraphicFramePr>
        <p:xfrm>
          <a:off x="6349475" y="145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{772062D0-4DE7-4F3C-A33A-A57201010991}</a:tableStyleId>
              </a:tblPr>
              <a:tblGrid>
                <a:gridCol w="2586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MQTT(S) Broker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Authenticate identities with X.509 certificates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Бизнес-логика доступа к ячейкам (</a:t>
                      </a:r>
                      <a:r>
                        <a:rPr b="1" lang="ru" u="sng"/>
                        <a:t>АПИ</a:t>
                      </a:r>
                      <a:r>
                        <a:rPr lang="ru"/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СУБД (PostgreSQL)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Админка (Бэкенд)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65" name="Google Shape;65;p13"/>
          <p:cNvCxnSpPr/>
          <p:nvPr/>
        </p:nvCxnSpPr>
        <p:spPr>
          <a:xfrm flipH="1" rot="10800000">
            <a:off x="4027225" y="1992425"/>
            <a:ext cx="2295600" cy="159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6" name="Google Shape;66;p13"/>
          <p:cNvCxnSpPr>
            <a:stCxn id="55" idx="3"/>
          </p:cNvCxnSpPr>
          <p:nvPr/>
        </p:nvCxnSpPr>
        <p:spPr>
          <a:xfrm>
            <a:off x="4021900" y="1447425"/>
            <a:ext cx="2290800" cy="21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7" name="Google Shape;67;p13"/>
          <p:cNvSpPr/>
          <p:nvPr/>
        </p:nvSpPr>
        <p:spPr>
          <a:xfrm>
            <a:off x="7354175" y="4236675"/>
            <a:ext cx="1548600" cy="659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2"/>
                </a:solidFill>
              </a:rPr>
              <a:t>Админка (Web browser)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8" name="Google Shape;68;p13"/>
          <p:cNvSpPr/>
          <p:nvPr/>
        </p:nvSpPr>
        <p:spPr>
          <a:xfrm rot="-1843687">
            <a:off x="7373944" y="3827664"/>
            <a:ext cx="162633" cy="447716"/>
          </a:xfrm>
          <a:prstGeom prst="upDownArrow">
            <a:avLst>
              <a:gd fmla="val 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4299198" y="3418625"/>
            <a:ext cx="1624800" cy="470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Интеграции</a:t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 rot="3419100">
            <a:off x="5704726" y="2230240"/>
            <a:ext cx="162427" cy="1567781"/>
          </a:xfrm>
          <a:prstGeom prst="upDownArrow">
            <a:avLst>
              <a:gd fmla="val 7484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139225" y="4185025"/>
            <a:ext cx="6760800" cy="887700"/>
          </a:xfrm>
          <a:prstGeom prst="wedgeRoundRectCallout">
            <a:avLst>
              <a:gd fmla="val -10776" name="adj1"/>
              <a:gd fmla="val -71038" name="adj2"/>
              <a:gd fmla="val 0" name="adj3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</a:rPr>
              <a:t>Варианты распределения БД доступа: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arenR"/>
            </a:pPr>
            <a:r>
              <a:rPr lang="ru" sz="1000">
                <a:solidFill>
                  <a:schemeClr val="lt1"/>
                </a:solidFill>
              </a:rPr>
              <a:t>Панели доступа связаны с зонами или группами; в контроллере панели предусмотрено локальное хранение оперативной БД доступа; это повышает отказоустойчивость при сетевых проблемах;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AutoNum type="arabicParenR"/>
            </a:pPr>
            <a:r>
              <a:rPr lang="ru" sz="1000">
                <a:solidFill>
                  <a:schemeClr val="lt1"/>
                </a:solidFill>
              </a:rPr>
              <a:t>Панели работают в общем пуле, не связаны с зонами, локальные БД доступа не применяются; на 100% централизованное управления и естественная консистентность БД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